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61307"/>
            <a:ext cx="900112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0" sz="4050" i="0" u="none">
                <a:solidFill>
                  <a:srgbClr val="FFFFFF"/>
                </a:solidFill>
                <a:latin typeface="Cinzel ExtraBold"/>
              </a:rPr>
              <a:t>Social Engineering Attacks &amp; Human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772792"/>
            <a:ext cx="6858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An executive analysis of psychological manipulation tactics, high-impact case studies, and enterprise defense frameworks.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099369"/>
            <a:ext cx="3048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2008882"/>
            <a:ext cx="4343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5A059"/>
                </a:solidFill>
                <a:latin typeface="Cinzel"/>
              </a:rPr>
              <a:t>EXECUTIVE CYBERSECURITY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753867"/>
            <a:ext cx="609600" cy="2857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87192"/>
            <a:ext cx="2705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 Medium"/>
              </a:rPr>
              <a:t>ADVANCED THREAT VECTOR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190750"/>
            <a:ext cx="5267325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FOUNDATIONAL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The Human Vulnerability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19425"/>
            <a:ext cx="52482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Exploiting cognitive bias over technical network flaws.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200275"/>
            <a:ext cx="5248275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533775"/>
            <a:ext cx="524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Inter"/>
              </a:rPr>
              <a:t>Artificial Urgency:</a:t>
            </a:r>
            <a:r>
              <a:rPr b="0" sz="1350" i="0" u="none">
                <a:solidFill>
                  <a:srgbClr val="0B132B"/>
                </a:solidFill>
                <a:latin typeface="Inter"/>
              </a:rPr>
              <a:t> Forcing immediate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86200"/>
            <a:ext cx="524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Inter"/>
              </a:rPr>
              <a:t>Authority Spoofing:</a:t>
            </a:r>
            <a:r>
              <a:rPr b="0" sz="1350" i="0" u="none">
                <a:solidFill>
                  <a:srgbClr val="0B132B"/>
                </a:solidFill>
                <a:latin typeface="Inter"/>
              </a:rPr>
              <a:t> Impersonating executive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38625"/>
            <a:ext cx="524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Inter"/>
              </a:rPr>
              <a:t>Fear Triggering:</a:t>
            </a:r>
            <a:r>
              <a:rPr b="0" sz="1350" i="0" u="none">
                <a:solidFill>
                  <a:srgbClr val="0B132B"/>
                </a:solidFill>
                <a:latin typeface="Inter"/>
              </a:rPr>
              <a:t> Threatening account suspension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91050"/>
            <a:ext cx="524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Inter"/>
              </a:rPr>
              <a:t>Social Proof:</a:t>
            </a:r>
            <a:r>
              <a:rPr b="0" sz="1350" i="0" u="none">
                <a:solidFill>
                  <a:srgbClr val="0B132B"/>
                </a:solidFill>
                <a:latin typeface="Inter"/>
              </a:rPr>
              <a:t> Fabricating peer consensus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33725"/>
            <a:ext cx="2600325" cy="1581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3133725"/>
            <a:ext cx="2600325" cy="1581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133725"/>
            <a:ext cx="2600325" cy="1581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3133725"/>
            <a:ext cx="2600325" cy="158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The 4-Phase Exploitation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57575"/>
            <a:ext cx="6381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PHASE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52850"/>
            <a:ext cx="2310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Reconnaissance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57650"/>
            <a:ext cx="2200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OSINT targeting via LinkedIn profiles.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457575"/>
            <a:ext cx="666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B132B"/>
                </a:solidFill>
                <a:latin typeface="Cinzel"/>
              </a:rP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752850"/>
            <a:ext cx="2310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Pretexting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4057650"/>
            <a:ext cx="2200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Constructing deceptive trust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457575"/>
            <a:ext cx="6572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752850"/>
            <a:ext cx="2310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Exploitation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4057650"/>
            <a:ext cx="2200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Harvesting credentials or MFA tokens.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3457575"/>
            <a:ext cx="666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752850"/>
            <a:ext cx="2310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4057650"/>
            <a:ext cx="22002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Executing unauthorized wire transfers.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842" y="2286000"/>
            <a:ext cx="4742557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76637"/>
            <a:ext cx="5773042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EMAIL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Spear Phishing &amp; Credential Harvest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367" y="2295525"/>
            <a:ext cx="4723507" cy="321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862262"/>
            <a:ext cx="606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Targeted Spear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48012"/>
            <a:ext cx="577304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Highly tailored emails leveraging internal vendor vocabulary.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14762"/>
            <a:ext cx="526821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REAL-WORLD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71937"/>
            <a:ext cx="553162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32B"/>
                </a:solidFill>
                <a:latin typeface="Inter"/>
              </a:rPr>
              <a:t>Twitter Administrative Breach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329112"/>
            <a:ext cx="526821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Spear-phished internal staff for administrative access, compromising 130 high-profile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38487"/>
            <a:ext cx="5319712" cy="1533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2" y="3028950"/>
            <a:ext cx="5348287" cy="1752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VOICE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Vishing &amp; IT Helpdesk Impersonation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852862"/>
            <a:ext cx="46910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Attackers call helpdesks claiming lost device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167187"/>
            <a:ext cx="46910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Leverages employee details pulled from public LinkedIn posts.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7012" y="3343275"/>
            <a:ext cx="46910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MGM RESORTS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7012" y="3600450"/>
            <a:ext cx="492561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$100M Helpdesk Reset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012" y="3962400"/>
            <a:ext cx="469106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Scatter Swine vished MGM helpdesk via 10-minute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7012" y="4276725"/>
            <a:ext cx="46910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Bypassed MFA protection, triggering casino-wide shutdown.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462337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6825" y="3452812"/>
            <a:ext cx="206025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Vishing Mechanics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33725"/>
            <a:ext cx="5334000" cy="1543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914650"/>
            <a:ext cx="5334000" cy="198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EXECUTIVE FRAUD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Business Email Compromise (BEC)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48050"/>
            <a:ext cx="49406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Executive Pretexting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48100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Vector: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Spoofed executive email requesting urgent wire.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62425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32B"/>
                </a:solidFill>
                <a:latin typeface="Inter"/>
              </a:rPr>
              <a:t>Tactic:</a:t>
            </a:r>
            <a:r>
              <a:rPr b="0" sz="1350" i="0" u="none">
                <a:solidFill>
                  <a:srgbClr val="0B132B"/>
                </a:solidFill>
                <a:latin typeface="Inter"/>
              </a:rPr>
              <a:t> Fake acquisition secrecy forcing protocol bypass.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57550"/>
            <a:ext cx="4705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TOYOTA BOSHOKU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14725"/>
            <a:ext cx="49406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$37M Wire Fraud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876675"/>
            <a:ext cx="4705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Spoofed executive emails convinced finance officers to change bank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391025"/>
            <a:ext cx="4705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Resulted in $37 Million direct financial exfiltration.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286000"/>
            <a:ext cx="5267325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33800"/>
            <a:ext cx="5248275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AUTHENTICATION BYPASS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MFA Push Prompt Bombing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05100"/>
            <a:ext cx="5510688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Fatigue Exploitation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05150"/>
            <a:ext cx="52482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Spamming targets with push notifications at 2 AM until approved.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295525"/>
            <a:ext cx="5248275" cy="3219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300" y="3971925"/>
            <a:ext cx="4743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UBER 2022 BREACH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29100"/>
            <a:ext cx="49806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32B"/>
                </a:solidFill>
                <a:latin typeface="Inter"/>
              </a:rPr>
              <a:t>Contractor MFA Bombing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486275"/>
            <a:ext cx="4743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Lapsus$ spammed a contractor for 1 hour, followed by WhatsApp impersonation to gain internal network privilege.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4742557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357" y="3576637"/>
            <a:ext cx="5773042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PHYSICAL THREAT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USB Baiting &amp; Facility Tailgating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295525"/>
            <a:ext cx="4723507" cy="321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09357" y="2862262"/>
            <a:ext cx="606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Tailgating &amp; Badge Piggybacking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9357" y="3148012"/>
            <a:ext cx="577304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Gaining physical entry by holding doors for polite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6057" y="3814762"/>
            <a:ext cx="526821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HISTORIC INFRASTRUCTURE BREACH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6057" y="4071937"/>
            <a:ext cx="553162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132B"/>
                </a:solidFill>
                <a:latin typeface="Inter"/>
              </a:rPr>
              <a:t>Stuxnet Air-Gapped Infection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6057" y="4329112"/>
            <a:ext cx="526821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Infected USB drives dropped near facility contractor sites bridged physical air-gapped industrial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57537"/>
            <a:ext cx="5334000" cy="1495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914650"/>
            <a:ext cx="5334000" cy="198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NEXT-GEN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AI Deepfakes &amp; Synthetic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71862"/>
            <a:ext cx="49406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Generative AI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33812"/>
            <a:ext cx="4705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Real-time voice synthesis and video face-swapping.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148137"/>
            <a:ext cx="4705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Eliminates grammar errors in traditional phishing emails.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257550"/>
            <a:ext cx="47053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Cinzel"/>
              </a:rPr>
              <a:t>HONG KONG $25M DEEPFAKE BREACH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14725"/>
            <a:ext cx="49406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B132B"/>
                </a:solidFill>
                <a:latin typeface="Inter"/>
              </a:rPr>
              <a:t>Multinational Video Call Scam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876675"/>
            <a:ext cx="4705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Finance clerk joined video conference with deepfake CFO.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391025"/>
            <a:ext cx="4705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Authorized 15 fraudulent wire transfers totaling $25.6M.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Enterprise Economic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52900" y="2862262"/>
            <a:ext cx="38862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b="0" sz="8400" i="0" u="none">
                <a:solidFill>
                  <a:srgbClr val="991B1B"/>
                </a:solidFill>
                <a:latin typeface="Cinzel ExtraBold"/>
              </a:rPr>
              <a:t>$10.3B+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0275" y="4119562"/>
            <a:ext cx="77914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B132B"/>
                </a:solidFill>
                <a:latin typeface="Inter"/>
              </a:rPr>
              <a:t>Annual global losses directly attributed to BEC and social engineering fraud.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9162" y="4443412"/>
            <a:ext cx="2733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FBI IC3 Cybercrime Report Key Metric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33712"/>
            <a:ext cx="3505200" cy="1781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33712"/>
            <a:ext cx="3505200" cy="1781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033712"/>
            <a:ext cx="3505200" cy="1781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0972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8860B"/>
                </a:solidFill>
                <a:latin typeface="Cinzel"/>
              </a:rPr>
              <a:t>ENTERPRISE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2144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132B"/>
                </a:solidFill>
                <a:latin typeface="Cinzel"/>
              </a:rPr>
              <a:t>Strategic Resilience Framework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37661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925" y="3795712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FIDO2 Security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00512"/>
            <a:ext cx="2876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Hardware-bound phishing-resistant authentication keys.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3376612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57725" y="3795712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Out-of-Band Callbacks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4100512"/>
            <a:ext cx="2876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Mandatory dual secondary verification for wire transfers.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525" y="3376612"/>
            <a:ext cx="33337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91525" y="3795712"/>
            <a:ext cx="30203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32B"/>
                </a:solidFill>
                <a:latin typeface="Inter"/>
              </a:rPr>
              <a:t>Simulated Attack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00512"/>
            <a:ext cx="2876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Continuous adaptive phishing and vishing drills.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3950" y="2555527"/>
            <a:ext cx="2324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5A059"/>
                </a:solidFill>
                <a:latin typeface="Cinzel"/>
              </a:rPr>
              <a:t>ZERO TRUST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15564" y="2917477"/>
            <a:ext cx="696087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0" sz="3900" i="0" u="none">
                <a:solidFill>
                  <a:srgbClr val="FFFFFF"/>
                </a:solidFill>
                <a:latin typeface="Cinzel ExtraBold"/>
              </a:rPr>
              <a:t>Verify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6712" y="3702248"/>
            <a:ext cx="3838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Questions &amp; Strategic Security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4273748"/>
            <a:ext cx="457200" cy="2857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132B"/>
                </a:solidFill>
                <a:latin typeface="Inter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1033462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B132B"/>
                </a:solidFill>
                <a:latin typeface="Inter"/>
              </a:rPr>
              <a:t>https://humanfirewall.io/wp-content/uploads/2024/01/human_factor_3.png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233487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B132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humanfirewall.io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1804987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B132B"/>
                </a:solidFill>
                <a:latin typeface="Inter"/>
              </a:rPr>
              <a:t>https://www.cloudflare.com/img/learning/security/threats/phishing-attack/diagram-phishing-attack.png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005012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B132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www.cloudflare.com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2576512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B132B"/>
                </a:solidFill>
                <a:latin typeface="Inter"/>
              </a:rPr>
              <a:t>https://www.halock.com/wp-content/uploads/2024/12/DeepFake-Cybersecurity-Awareness-Risk-HALOCK-Security-copy.png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776537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B132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www.halock.com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3348037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B132B"/>
                </a:solidFill>
                <a:latin typeface="Inter"/>
              </a:rPr>
              <a:t>https://www.getgenea.com/wp-content/uploads/2024/01/shutterstock_610811747-scaled.jpg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548062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B132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www.getgenea.com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